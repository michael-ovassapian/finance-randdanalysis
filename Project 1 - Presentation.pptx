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73" r:id="rId20"/>
    <p:sldId id="274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269444-40A9-8353-3CFC-026BD53F79D1}" v="114" dt="2026-02-23T04:00:50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52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07525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B71E1-A450-FCC8-4267-C3277C94B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9C85C-BAB5-8EE2-3663-42C85CC2C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CC3A2D-B010-AD50-FB4D-A0EBE1B52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2F105-FD85-51E3-C31F-F86D0506C0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384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F0834-9692-1992-254C-47C0EFEFA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DA7BCA-9687-CE50-2424-4AE35401BB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7D1646-24F9-A24B-E895-61C2541335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EB8A3-E9C6-7EBA-18A9-4C5D7A6B0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932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E8A02-FEA7-760A-9BC4-2E642AF35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36785-1F3F-8071-CA3F-F13BB6BA3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862F2A-6183-3F28-DC32-AFF995627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01A5D-EE6C-B849-4F32-DCBBF14FA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45283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3A8D2-13EA-2B0A-F2DA-6E37AA52E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4C4148-E4B4-B842-8EA6-732A0D976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EA4D40-FDE4-A7FD-AE1D-6BE881F1FB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F1337E-08D3-CD5E-6C18-15A5DD522C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789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ADA1D-9DFE-E5B7-DB09-EA3991128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39CC6E-B6A4-24D4-D003-1D060DE146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E3C01D-C08F-9936-D53C-B1F4D33A3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341F5-71EC-A050-6A83-AA7F1C343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850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C87D2-EE37-5E81-4ED2-00C5F5619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C29E09-E47C-686E-F114-C1B4B53C45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8B04E7-CCAE-ACFB-BB49-B4144FB0BB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254F0-C63D-F7F5-C87A-EF35B58CE1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6714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FED51-05C0-8B21-6F74-9B7409D4C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11251-6686-77F0-8C2E-6C4F39330A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51CF5E-0127-3A05-491F-AA1CFE437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347D5B-047F-04F1-0E98-1733333A8D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4764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6C47F-BE7F-EDB4-5518-8C7603DB1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3B212-7FEA-ED4E-6E04-BDCEE1F75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BF7051-306C-5007-01BB-22C940623B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68C8B-B407-CB18-7ACD-63B803B215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0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8993A-3C0E-658E-8218-A98E4ABC6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7B2412-F835-F218-C273-B88D23E2BF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A9FE3-E054-7425-76D6-0D804F9CA2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9CDD4-F69D-2F53-701A-A09DCBDB4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9671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F3B413-2EDD-7AF4-1168-5D5F10CB9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FB61AD-5AD4-13CB-BDA7-656B499832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7EBBE2-7BD0-EF59-D16E-9B9331EFB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B1B3B4-E9D5-0508-9334-423AD98A00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077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4203E-6029-2913-F76D-EF1C9A187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2D96F-C3B9-E9A5-D78F-C503A86592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17502-F9F5-F542-6084-FF1CBEE1B0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C2747A-4D89-1977-2093-925B85CE0B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412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C156D-0B1F-58F0-B55D-E3DEC5012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8C885B-C8F2-A495-C5A9-DC8CA25B65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E6F3A7-6446-124C-FF68-4D031C7C8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EC385-621C-075E-AE06-22A117639E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6495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3F2B-86E7-98A4-DD08-6597F9B5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1CCDDA-4226-E570-6837-126E208CA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0F2655-08C8-D1B4-CBE7-3195AF2B0B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2240F-3DDD-9198-7C75-831EAFD6D8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05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39A54-EB6B-4416-2D19-CDDC45CE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61CAE-E0A0-9622-C2A5-83CFE591EA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61B72A-B760-DA06-8A63-D48865FF22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760BB-AEBE-CF8B-8833-7ECD4F2B02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0295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1B3A5C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1371600"/>
            <a:ext cx="3657600" cy="3657600"/>
          </a:xfrm>
          <a:prstGeom prst="ellipse">
            <a:avLst/>
          </a:prstGeom>
          <a:solidFill>
            <a:srgbClr val="2B5C8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1463040"/>
            <a:ext cx="2286000" cy="45720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002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R&amp;D Expenditure</a:t>
            </a:r>
            <a:endParaRPr lang="en-US" sz="3400"/>
          </a:p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Generate Alpha?</a:t>
            </a:r>
            <a:endParaRPr lang="en-US" sz="340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7EB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Portfolio-Level Analysis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914400" y="3429000"/>
            <a:ext cx="3657600" cy="13716"/>
          </a:xfrm>
          <a:prstGeom prst="rect">
            <a:avLst/>
          </a:prstGeom>
          <a:solidFill>
            <a:srgbClr val="5C63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Feen  ·  Humphrey Hui  ·  Michael Ovassapian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  |  1980–2022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 &amp; Methodology</a:t>
            </a:r>
            <a:endParaRPr lang="en-US" sz="2200"/>
          </a:p>
        </p:txBody>
      </p:sp>
      <p:sp>
        <p:nvSpPr>
          <p:cNvPr id="5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D6E8F5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117043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Question: </a:t>
            </a:r>
            <a:r>
              <a:rPr lang="en-US" sz="140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firms with higher R&amp;D spending earn risk-adjusted excess returns?</a:t>
            </a:r>
            <a:endParaRPr lang="en-US" sz="1400"/>
          </a:p>
        </p:txBody>
      </p:sp>
      <p:sp>
        <p:nvSpPr>
          <p:cNvPr id="10" name="Shape 7"/>
          <p:cNvSpPr/>
          <p:nvPr/>
        </p:nvSpPr>
        <p:spPr>
          <a:xfrm>
            <a:off x="457200" y="1965960"/>
            <a:ext cx="8229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7200" y="1965960"/>
            <a:ext cx="54864" cy="2560320"/>
          </a:xfrm>
          <a:prstGeom prst="rect">
            <a:avLst/>
          </a:prstGeom>
          <a:solidFill>
            <a:srgbClr val="2B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315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/>
          </a:p>
        </p:txBody>
      </p:sp>
      <p:sp>
        <p:nvSpPr>
          <p:cNvPr id="13" name="Text 10"/>
          <p:cNvSpPr/>
          <p:nvPr/>
        </p:nvSpPr>
        <p:spPr>
          <a:xfrm>
            <a:off x="731520" y="2423160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firms annually into quintile portfolios by R&amp;D expenditure level, creating two long-short portfolios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equal-weighted and value-weighted portfolio returns using Fama-French convention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for alpha under CAPM (single-factor) and FF3F model</a:t>
            </a:r>
            <a:endParaRPr lang="en-US" sz="130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across two periods: 1980–2000 and 2001–2022</a:t>
            </a:r>
            <a:endParaRPr lang="en-US" sz="1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2200"/>
          </a:p>
        </p:txBody>
      </p:sp>
      <p:sp>
        <p:nvSpPr>
          <p:cNvPr id="5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457200" y="1097280"/>
            <a:ext cx="3886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097280"/>
            <a:ext cx="54864" cy="1600200"/>
          </a:xfrm>
          <a:prstGeom prst="rect">
            <a:avLst/>
          </a:prstGeom>
          <a:solidFill>
            <a:srgbClr val="2B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1207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Compustat (comp.funda)</a:t>
            </a:r>
            <a:endParaRPr lang="en-US" sz="1200"/>
          </a:p>
        </p:txBody>
      </p:sp>
      <p:sp>
        <p:nvSpPr>
          <p:cNvPr id="11" name="Text 8"/>
          <p:cNvSpPr/>
          <p:nvPr/>
        </p:nvSpPr>
        <p:spPr>
          <a:xfrm>
            <a:off x="640080" y="1554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R&amp;D expenditure (xrd), 1979–2022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USD, US-incorporated, major US exchanges, industrial format, financial companies and pharmaceuticals excluded via </a:t>
            </a:r>
            <a:r>
              <a:rPr lang="en-US" sz="1050" err="1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</a:t>
            </a:r>
            <a:r>
              <a:rPr lang="en-US" sz="105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codes</a:t>
            </a:r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3886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097280"/>
            <a:ext cx="54864" cy="1600200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46320" y="12070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CRSP (crsp.msf + crsp.msenames)</a:t>
            </a:r>
            <a:endParaRPr lang="en-US" sz="1200"/>
          </a:p>
        </p:txBody>
      </p:sp>
      <p:sp>
        <p:nvSpPr>
          <p:cNvPr id="15" name="Text 12"/>
          <p:cNvSpPr/>
          <p:nvPr/>
        </p:nvSpPr>
        <p:spPr>
          <a:xfrm>
            <a:off x="4846320" y="1554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stock returns &amp; market equity, 1980–2022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Filtered: common shares (shrcd 10/11), NYSE/AMEX/NASDAQ (exchcd 1/2/3), non-financials</a:t>
            </a:r>
            <a:endParaRPr lang="en-US" sz="1050"/>
          </a:p>
        </p:txBody>
      </p:sp>
      <p:sp>
        <p:nvSpPr>
          <p:cNvPr id="16" name="Shape 13"/>
          <p:cNvSpPr/>
          <p:nvPr/>
        </p:nvSpPr>
        <p:spPr>
          <a:xfrm>
            <a:off x="457200" y="3017520"/>
            <a:ext cx="3886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3017520"/>
            <a:ext cx="54864" cy="16002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4008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Fama–French Library (ff.factors_monthly)</a:t>
            </a:r>
            <a:endParaRPr lang="en-US" sz="1200"/>
          </a:p>
        </p:txBody>
      </p:sp>
      <p:sp>
        <p:nvSpPr>
          <p:cNvPr id="19" name="Text 16"/>
          <p:cNvSpPr/>
          <p:nvPr/>
        </p:nvSpPr>
        <p:spPr>
          <a:xfrm>
            <a:off x="64008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Mkt-RF, SMB, HML, RF, 1980–2022</a:t>
            </a:r>
            <a:endParaRPr lang="en-US" sz="1050"/>
          </a:p>
        </p:txBody>
      </p:sp>
      <p:sp>
        <p:nvSpPr>
          <p:cNvPr id="20" name="Shape 17"/>
          <p:cNvSpPr/>
          <p:nvPr/>
        </p:nvSpPr>
        <p:spPr>
          <a:xfrm>
            <a:off x="4663440" y="3017520"/>
            <a:ext cx="388620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3A3F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31272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CCM Link Table (crsp.ccmxpf_lnkhist)</a:t>
            </a:r>
            <a:endParaRPr lang="en-US" sz="1200"/>
          </a:p>
        </p:txBody>
      </p:sp>
      <p:sp>
        <p:nvSpPr>
          <p:cNvPr id="23" name="Text 20"/>
          <p:cNvSpPr/>
          <p:nvPr/>
        </p:nvSpPr>
        <p:spPr>
          <a:xfrm>
            <a:off x="4846320" y="34747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links (LU/LC, P/C) bridging Compustat gvkeys to CRSP </a:t>
            </a:r>
            <a:r>
              <a:rPr lang="en-US" sz="1050" err="1">
                <a:solidFill>
                  <a:srgbClr val="5C63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permnos</a:t>
            </a:r>
            <a:endParaRPr lang="en-US" sz="10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Pipeline</a:t>
            </a:r>
            <a:endParaRPr lang="en-US" sz="2200"/>
          </a:p>
        </p:txBody>
      </p:sp>
      <p:sp>
        <p:nvSpPr>
          <p:cNvPr id="5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886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66928" y="1161288"/>
            <a:ext cx="502920" cy="502920"/>
          </a:xfrm>
          <a:prstGeom prst="ellipse">
            <a:avLst/>
          </a:prstGeom>
          <a:solidFill>
            <a:srgbClr val="2B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/>
          </a:p>
        </p:txBody>
      </p:sp>
      <p:sp>
        <p:nvSpPr>
          <p:cNvPr id="11" name="Text 8"/>
          <p:cNvSpPr/>
          <p:nvPr/>
        </p:nvSpPr>
        <p:spPr>
          <a:xfrm>
            <a:off x="1188720" y="1143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R&amp;D values set to </a:t>
            </a:r>
            <a:r>
              <a:rPr lang="en-US" sz="1050" err="1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endParaRPr lang="en-US" sz="1050">
              <a:solidFill>
                <a:srgbClr val="3A3F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Zero/missing R&amp;D firms grouped into the same portfolio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4189246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773168" y="1161288"/>
            <a:ext cx="502920" cy="502920"/>
          </a:xfrm>
          <a:prstGeom prst="ellipse">
            <a:avLst/>
          </a:prstGeom>
          <a:solidFill>
            <a:srgbClr val="2B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73168" y="1161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15" name="Text 12"/>
          <p:cNvSpPr/>
          <p:nvPr/>
        </p:nvSpPr>
        <p:spPr>
          <a:xfrm>
            <a:off x="5394959" y="1143000"/>
            <a:ext cx="32528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CRSP returns cleaned: non-numeric coerced to </a:t>
            </a:r>
            <a:r>
              <a:rPr lang="en-US" sz="1050" err="1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then all </a:t>
            </a:r>
            <a:r>
              <a:rPr lang="en-US" sz="1050" err="1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dropped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less than −100% excluded</a:t>
            </a:r>
            <a:endParaRPr lang="en-US" sz="1050"/>
          </a:p>
        </p:txBody>
      </p:sp>
      <p:sp>
        <p:nvSpPr>
          <p:cNvPr id="16" name="Shape 13"/>
          <p:cNvSpPr/>
          <p:nvPr/>
        </p:nvSpPr>
        <p:spPr>
          <a:xfrm>
            <a:off x="457200" y="2240280"/>
            <a:ext cx="3886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66928" y="2350008"/>
            <a:ext cx="502920" cy="502920"/>
          </a:xfrm>
          <a:prstGeom prst="ellipse">
            <a:avLst/>
          </a:prstGeom>
          <a:solidFill>
            <a:srgbClr val="2B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/>
          </a:p>
        </p:txBody>
      </p:sp>
      <p:sp>
        <p:nvSpPr>
          <p:cNvPr id="19" name="Text 16"/>
          <p:cNvSpPr/>
          <p:nvPr/>
        </p:nvSpPr>
        <p:spPr>
          <a:xfrm>
            <a:off x="118872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Delisting returns merged via outer join as it preserves delisting-only observations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return calculation to avoid survivorship bias: (1 + ret) × (1 + </a:t>
            </a:r>
            <a:r>
              <a:rPr lang="en-US" sz="1050" err="1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dlret</a:t>
            </a: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− 1</a:t>
            </a:r>
            <a:endParaRPr lang="en-US" sz="1050"/>
          </a:p>
        </p:txBody>
      </p:sp>
      <p:sp>
        <p:nvSpPr>
          <p:cNvPr id="20" name="Shape 17"/>
          <p:cNvSpPr/>
          <p:nvPr/>
        </p:nvSpPr>
        <p:spPr>
          <a:xfrm>
            <a:off x="4663439" y="2240280"/>
            <a:ext cx="4189247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773168" y="2350008"/>
            <a:ext cx="502920" cy="502920"/>
          </a:xfrm>
          <a:prstGeom prst="ellipse">
            <a:avLst/>
          </a:prstGeom>
          <a:solidFill>
            <a:srgbClr val="2B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73168" y="23500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/>
          </a:p>
        </p:txBody>
      </p:sp>
      <p:sp>
        <p:nvSpPr>
          <p:cNvPr id="23" name="Text 20"/>
          <p:cNvSpPr/>
          <p:nvPr/>
        </p:nvSpPr>
        <p:spPr>
          <a:xfrm>
            <a:off x="5394959" y="2331720"/>
            <a:ext cx="32528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800" dirty="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800" dirty="0" err="1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xrd</a:t>
            </a:r>
            <a:r>
              <a:rPr lang="en-US" sz="800" dirty="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(t)+0.8xrd(t−1)+0.6xrd(t−2)+0.4xrd(t−3)+0.2xrd(t−4))/mkt(t)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err="1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xrd</a:t>
            </a:r>
            <a:r>
              <a:rPr lang="en-US" sz="1000" dirty="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 lag: Fama-French convention used i.e. take the year from </a:t>
            </a:r>
            <a:r>
              <a:rPr lang="en-US" sz="1000" dirty="0" err="1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datadate</a:t>
            </a:r>
            <a:r>
              <a:rPr lang="en-US" sz="1000" dirty="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, add one, form portfolio in July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171450" indent="-171450">
              <a:buFont typeface="Wingdings" pitchFamily="2" charset="2"/>
              <a:buChar char="§"/>
            </a:pPr>
            <a:r>
              <a:rPr lang="en-US" sz="1000" dirty="0" err="1">
                <a:solidFill>
                  <a:srgbClr val="3A3F47"/>
                </a:solidFill>
                <a:ea typeface="Calibri"/>
                <a:cs typeface="Calibri"/>
              </a:rPr>
              <a:t>xrd</a:t>
            </a:r>
            <a:r>
              <a:rPr lang="en-US" sz="1000" dirty="0">
                <a:solidFill>
                  <a:srgbClr val="3A3F47"/>
                </a:solidFill>
                <a:ea typeface="Calibri"/>
                <a:cs typeface="Calibri"/>
              </a:rPr>
              <a:t> is weighted by market cap to get </a:t>
            </a:r>
            <a:r>
              <a:rPr lang="en-US" sz="1000" dirty="0" err="1">
                <a:solidFill>
                  <a:srgbClr val="3A3F47"/>
                </a:solidFill>
                <a:ea typeface="Calibri"/>
                <a:cs typeface="Calibri"/>
              </a:rPr>
              <a:t>r&amp;d</a:t>
            </a:r>
            <a:r>
              <a:rPr lang="en-US" sz="1000" dirty="0">
                <a:solidFill>
                  <a:srgbClr val="3A3F47"/>
                </a:solidFill>
                <a:ea typeface="Calibri"/>
                <a:cs typeface="Calibri"/>
              </a:rPr>
              <a:t> intensity</a:t>
            </a:r>
          </a:p>
        </p:txBody>
      </p:sp>
      <p:sp>
        <p:nvSpPr>
          <p:cNvPr id="24" name="Shape 21"/>
          <p:cNvSpPr/>
          <p:nvPr/>
        </p:nvSpPr>
        <p:spPr>
          <a:xfrm>
            <a:off x="457200" y="3429000"/>
            <a:ext cx="38862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66928" y="3538728"/>
            <a:ext cx="502920" cy="502920"/>
          </a:xfrm>
          <a:prstGeom prst="ellipse">
            <a:avLst/>
          </a:prstGeom>
          <a:solidFill>
            <a:srgbClr val="2B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66928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/>
          </a:p>
        </p:txBody>
      </p:sp>
      <p:sp>
        <p:nvSpPr>
          <p:cNvPr id="27" name="Text 24"/>
          <p:cNvSpPr/>
          <p:nvPr/>
        </p:nvSpPr>
        <p:spPr>
          <a:xfrm>
            <a:off x="118872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PERMCO aggregation: market equity summed across share classes</a:t>
            </a:r>
          </a:p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PERMNO kept as representative</a:t>
            </a:r>
            <a:endParaRPr lang="en-US" sz="1050"/>
          </a:p>
        </p:txBody>
      </p:sp>
      <p:sp>
        <p:nvSpPr>
          <p:cNvPr id="28" name="Shape 25"/>
          <p:cNvSpPr/>
          <p:nvPr/>
        </p:nvSpPr>
        <p:spPr>
          <a:xfrm>
            <a:off x="4663439" y="3429000"/>
            <a:ext cx="4189247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4773168" y="3538728"/>
            <a:ext cx="502920" cy="502920"/>
          </a:xfrm>
          <a:prstGeom prst="ellipse">
            <a:avLst/>
          </a:prstGeom>
          <a:solidFill>
            <a:srgbClr val="2B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4773168" y="3538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/>
          </a:p>
        </p:txBody>
      </p:sp>
      <p:sp>
        <p:nvSpPr>
          <p:cNvPr id="31" name="Text 28"/>
          <p:cNvSpPr/>
          <p:nvPr/>
        </p:nvSpPr>
        <p:spPr>
          <a:xfrm>
            <a:off x="5394959" y="3520440"/>
            <a:ext cx="325282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Wingdings" pitchFamily="2" charset="2"/>
              <a:buChar char="§"/>
            </a:pPr>
            <a:r>
              <a:rPr lang="en-US" sz="1050">
                <a:solidFill>
                  <a:srgbClr val="3A3F47"/>
                </a:solidFill>
                <a:ea typeface="Calibri"/>
                <a:cs typeface="Calibri"/>
              </a:rPr>
              <a:t>Market cap lagged by one month for value-weighting (avoids lookahead bias)</a:t>
            </a:r>
            <a:endParaRPr lang="en-US" sz="105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Formation</a:t>
            </a:r>
            <a:endParaRPr lang="en-US" sz="2200"/>
          </a:p>
        </p:txBody>
      </p:sp>
      <p:sp>
        <p:nvSpPr>
          <p:cNvPr id="5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795528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051560"/>
            <a:ext cx="54864" cy="3520440"/>
          </a:xfrm>
          <a:prstGeom prst="rect">
            <a:avLst/>
          </a:prstGeom>
          <a:solidFill>
            <a:srgbClr val="2B5C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31520" y="1188720"/>
            <a:ext cx="736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Variable:  </a:t>
            </a:r>
            <a:r>
              <a:rPr lang="en-US" sz="11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weighted R&amp;D expenditure (xrd) from </a:t>
            </a:r>
            <a:r>
              <a:rPr lang="en-US" sz="1150" err="1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Compustat</a:t>
            </a:r>
            <a:endParaRPr lang="en-US" sz="1150">
              <a:solidFill>
                <a:srgbClr val="3A3F4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31520" y="1737360"/>
            <a:ext cx="736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Groups:  </a:t>
            </a:r>
            <a:r>
              <a:rPr lang="en-US" sz="11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Missing/Null R&amp;D portfolio, and Q1 to Q5 quintiles</a:t>
            </a:r>
            <a:endParaRPr lang="en-US" sz="1150"/>
          </a:p>
        </p:txBody>
      </p:sp>
      <p:sp>
        <p:nvSpPr>
          <p:cNvPr id="12" name="Text 9"/>
          <p:cNvSpPr/>
          <p:nvPr/>
        </p:nvSpPr>
        <p:spPr>
          <a:xfrm>
            <a:off x="731520" y="2286000"/>
            <a:ext cx="736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 </a:t>
            </a:r>
            <a:r>
              <a:rPr lang="en-US" sz="11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Fama-French convention followed, so we formed portfolios in July</a:t>
            </a:r>
          </a:p>
        </p:txBody>
      </p:sp>
      <p:sp>
        <p:nvSpPr>
          <p:cNvPr id="13" name="Text 10"/>
          <p:cNvSpPr/>
          <p:nvPr/>
        </p:nvSpPr>
        <p:spPr>
          <a:xfrm>
            <a:off x="731520" y="2834640"/>
            <a:ext cx="736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Rebalancing:  </a:t>
            </a:r>
            <a:r>
              <a:rPr lang="en-US" sz="115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Monthly</a:t>
            </a:r>
            <a:endParaRPr lang="en-US" sz="1150"/>
          </a:p>
        </p:txBody>
      </p:sp>
      <p:sp>
        <p:nvSpPr>
          <p:cNvPr id="14" name="Text 11"/>
          <p:cNvSpPr/>
          <p:nvPr/>
        </p:nvSpPr>
        <p:spPr>
          <a:xfrm>
            <a:off x="731520" y="3383280"/>
            <a:ext cx="736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Weighting:  </a:t>
            </a:r>
            <a:r>
              <a:rPr lang="en-US" sz="115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Equal-weighted as simple average, </a:t>
            </a:r>
            <a:r>
              <a:rPr lang="en-US" sz="11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value-weighted using prior-month market equity</a:t>
            </a:r>
            <a:endParaRPr lang="en-US" sz="1150"/>
          </a:p>
        </p:txBody>
      </p:sp>
      <p:sp>
        <p:nvSpPr>
          <p:cNvPr id="15" name="Text 12"/>
          <p:cNvSpPr/>
          <p:nvPr/>
        </p:nvSpPr>
        <p:spPr>
          <a:xfrm>
            <a:off x="731520" y="3931920"/>
            <a:ext cx="7361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50" b="1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Portfolio:  </a:t>
            </a:r>
            <a:r>
              <a:rPr lang="en-US" sz="11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Q5 - Q1 (long high R&amp;D, short low R&amp;D) and Q5 - Q0 (long high R&amp;D, short no R&amp;D)  </a:t>
            </a:r>
            <a:endParaRPr lang="en-US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Summary Statistics</a:t>
            </a:r>
            <a:endParaRPr lang="en-US" sz="2200"/>
          </a:p>
        </p:txBody>
      </p:sp>
      <p:sp>
        <p:nvSpPr>
          <p:cNvPr id="5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57200" y="1051560"/>
            <a:ext cx="388620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94360" y="10881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Firms per Year</a:t>
            </a:r>
            <a:endParaRPr lang="en-US" sz="1150"/>
          </a:p>
        </p:txBody>
      </p:sp>
      <p:sp>
        <p:nvSpPr>
          <p:cNvPr id="11" name="Text 8"/>
          <p:cNvSpPr/>
          <p:nvPr/>
        </p:nvSpPr>
        <p:spPr>
          <a:xfrm>
            <a:off x="594360" y="15087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is zero or null: ~2,615 firms/year</a:t>
            </a:r>
            <a:endParaRPr lang="en-US" sz="105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quintile: ~365 firms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is zero or null dominates</a:t>
            </a:r>
            <a:endParaRPr lang="en-US" sz="1050"/>
          </a:p>
        </p:txBody>
      </p:sp>
      <p:sp>
        <p:nvSpPr>
          <p:cNvPr id="12" name="Shape 9"/>
          <p:cNvSpPr/>
          <p:nvPr/>
        </p:nvSpPr>
        <p:spPr>
          <a:xfrm>
            <a:off x="4663440" y="105156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663440" y="1051560"/>
            <a:ext cx="388620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800600" y="108813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R&amp;D Intensity</a:t>
            </a:r>
            <a:endParaRPr lang="en-US" sz="1150">
              <a:latin typeface="Calibri"/>
              <a:ea typeface="Calibri"/>
              <a:cs typeface="Calibri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800600" y="150876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Q5: 0.88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800100" lvl="1" indent="-342900">
              <a:spcAft>
                <a:spcPts val="400"/>
              </a:spcAft>
              <a:buSzPct val="100000"/>
              <a:buFont typeface="Courier New"/>
              <a:buChar char="o"/>
            </a:pPr>
            <a:r>
              <a:rPr lang="en-US" sz="80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Mild rightward skew (median RD = 0.50)</a:t>
            </a:r>
            <a:endParaRPr lang="en-US" sz="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Q1: 0.01</a:t>
            </a:r>
            <a:endParaRPr lang="en-US" sz="1050" dirty="0">
              <a:solidFill>
                <a:srgbClr val="3A3F4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457200" y="292608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57200" y="2926080"/>
            <a:ext cx="388620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94360" y="29626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1150"/>
          </a:p>
        </p:txBody>
      </p:sp>
      <p:sp>
        <p:nvSpPr>
          <p:cNvPr id="19" name="Text 16"/>
          <p:cNvSpPr/>
          <p:nvPr/>
        </p:nvSpPr>
        <p:spPr>
          <a:xfrm>
            <a:off x="594360" y="33832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Q5 firms: $6B average, $35B standard deviation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Q1 firms: $0.5B average, $3.4B standard deviation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Font typeface="Arial"/>
              <a:buChar char="•"/>
            </a:pPr>
            <a:r>
              <a:rPr lang="en-US" sz="105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Little relation between size and R&amp;D intensity</a:t>
            </a:r>
            <a:endParaRPr lang="en-US" sz="1050">
              <a:ea typeface="Calibri"/>
              <a:cs typeface="Calibri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4663440" y="2926080"/>
            <a:ext cx="38862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0" y="2926080"/>
            <a:ext cx="3886200" cy="3657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00600" y="2962656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Returns</a:t>
            </a:r>
            <a:endParaRPr lang="en-US" sz="1150"/>
          </a:p>
        </p:txBody>
      </p:sp>
      <p:sp>
        <p:nvSpPr>
          <p:cNvPr id="23" name="Text 20"/>
          <p:cNvSpPr/>
          <p:nvPr/>
        </p:nvSpPr>
        <p:spPr>
          <a:xfrm>
            <a:off x="4800600" y="338328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Q5: 2.24% mean return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/>
                <a:ea typeface="Calibri"/>
                <a:cs typeface="Calibri"/>
              </a:rPr>
              <a:t>Q1: 0.68% mean return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>
                <a:solidFill>
                  <a:srgbClr val="3A3F47"/>
                </a:solidFill>
                <a:latin typeface="Calibri" pitchFamily="34" charset="0"/>
                <a:cs typeface="Calibri" pitchFamily="34" charset="-120"/>
              </a:rPr>
              <a:t>Not monotonic, Q4 and Q3 had means of 1.57% and 1.43%</a:t>
            </a:r>
            <a:endParaRPr lang="en-US"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A5398C-9248-54F2-209B-A310269B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53C031B-0635-1345-76F7-AB48E8A5AAA0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2B5B50FD-A2D0-F4B0-A9A5-607AFCC5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9BB0A026-5BA3-893F-A5A4-C89FFAEC0A08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 CAPM EW Results: 1980–2022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4B30AEE-8F53-7C10-F4D6-56EEAEF03D65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7234DD7-28A7-4D55-0F85-CB70F8D18CF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10BBC05-B4AA-FA73-A66A-7850031AB8CC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 descr="A black and white paper with numbers and letters&#10;&#10;AI-generated content may be incorrect.">
            <a:extLst>
              <a:ext uri="{FF2B5EF4-FFF2-40B4-BE49-F238E27FC236}">
                <a16:creationId xmlns:a16="http://schemas.microsoft.com/office/drawing/2014/main" id="{1070F7CE-B54F-0206-1944-13026CB54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37472"/>
            <a:ext cx="9158169" cy="1868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01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8A3D0E-CE04-EB43-C386-62928D453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891BA53-306E-1292-9822-EA31FEBD73F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8BF7D82-4566-6570-967E-C9D3DC999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5F77A40-77A9-570A-904F-575A709E7475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 FF3F EW Results: 1980–2022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E3EF9230-0FBC-05F3-DA38-0576E0DF047C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4209E01C-8173-6490-1D63-CB52CE9FB83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055DFA5-C905-BE83-937C-F079BFF47326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AC067BE1-F6A1-3DB6-45D9-8D7153735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77056"/>
            <a:ext cx="9144000" cy="1808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61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B529A5-CFBF-4F99-36D9-B9CD13331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E51A00A-FC52-3763-9E96-0AFE6E49372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CEE251EF-92F6-F2F3-AFC2-2BA8597936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BA3CDD3-1534-A6CB-52E9-5816A237959D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CAPM EW Results: 1980-2000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F1759AF-BA6B-26C1-7417-51B3E8A12905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376DEB6-96BA-E4C8-A7C9-F016E50318B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12E9837-433B-4D75-F5C6-DD4817C4B1F4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8EA82A81-10FA-2579-13D2-596C91AAE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65290"/>
            <a:ext cx="9144000" cy="1812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0443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3848EF-F08E-3B8C-0844-38A0FE836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856C3D-181A-0BA5-69EC-360F790AE924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025062A9-2E91-8001-3375-BB62AFD89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B47DF7F-8BFF-1CEC-A324-B8DAE22065D5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FF3F EW Results: 1980–2000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F7582AC-89D7-A06F-9AD3-B175E52925DC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43A80DA-53F7-D997-4583-60167A35EF4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37BE30A-B224-1C77-8419-0C92F6C25593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 descr="A black and white numbers&#10;&#10;AI-generated content may be incorrect.">
            <a:extLst>
              <a:ext uri="{FF2B5EF4-FFF2-40B4-BE49-F238E27FC236}">
                <a16:creationId xmlns:a16="http://schemas.microsoft.com/office/drawing/2014/main" id="{774FD116-4394-6ABD-51AC-DD7B271350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8373"/>
            <a:ext cx="9144000" cy="184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786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A894AB-CA10-EFD3-EBD6-F15BA641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1C2B2C-1E3C-9F90-A375-14FECA1D1B1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8B5F005-767F-061A-0336-85B32DC4C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FA4E72D4-38B5-7479-07A5-298DD63A13CF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CAPM EW Results: 2001–2022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61D40CD-733C-6878-3D2D-FE746CEF5816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ACA44F5-F3E8-EF65-BE6E-D8A3BAC8E6CD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0E08AA6-EA8B-0B77-E571-7ABFF33D572B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5480B0E-D9BD-2EBA-96D1-324D8F0F36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57716"/>
            <a:ext cx="9144000" cy="242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83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230BF-14D1-4229-C178-28CC09291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DCC30A3-959C-7831-3428-CB23455AE5FD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D3FC43BD-095A-163D-842A-621791318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19658D7-E28B-F898-0EE4-E38C405B5729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FF3F VW Results: 2001–2022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5750920-A55E-53A0-137A-9E36B54AEAB0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839A7DC6-416B-7D54-CC31-70EF8430F6D5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C365739-E504-0FF2-948F-59977E6DBCCA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958EA169-6E9D-C26F-4746-0B50BE116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81854"/>
            <a:ext cx="9144000" cy="177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17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049B05-92BC-31A1-D223-DAD6FC750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371A698-28F5-621A-F55C-AD3C032D22D5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135B136-E0D0-BA7A-6081-65E1AC2CD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7B63B4C-A662-5921-CEBF-19695090B7B9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CAPM VW Results: 1980–2022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5ACA5ED4-3A09-70B1-492F-B26278B3E167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A450B53-AF5D-E987-3F94-0721EFA814C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1D615CEA-0234-B95F-6DF2-0B9EECD9F173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E1185CF2-EDB3-F0DF-9BB6-AB72E00C5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70538"/>
            <a:ext cx="9144000" cy="1802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0028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29B3BC-50DE-F666-18F5-C5242F72E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4675BCC-7C06-54D0-6CD8-3638D891944E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B289074-3038-A1F0-4334-253DFFCF3F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0E814B1-5E95-7818-A0AB-3BC37CFC22AD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FF3F VW Results: 1980–2022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F7922E1-6C4F-CDCF-FD5D-47A54714F35E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CC08C8D-CFBA-8256-5EA7-0D464015C41B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3B077A88-420C-681A-2ABA-4F6FA3080C61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 descr="A close-up of a number&#10;&#10;AI-generated content may be incorrect.">
            <a:extLst>
              <a:ext uri="{FF2B5EF4-FFF2-40B4-BE49-F238E27FC236}">
                <a16:creationId xmlns:a16="http://schemas.microsoft.com/office/drawing/2014/main" id="{814B0198-B2B9-E853-83E1-B30241CFD0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92792"/>
            <a:ext cx="9144000" cy="1757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872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F66AAD-7637-1EFD-75EF-9F5CA0BAC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565DCBF-1F1D-8D5E-CAD5-5E4EFE33315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660E95E-EB84-02C4-324F-C982459B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4EF12367-81A6-DD3D-E9D8-8E7D3CAE694B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FF3F VW Results: 1980–2000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F6472A1-3DE8-6F0F-7A22-AC82BEDBB702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39F32AC-913F-65BB-03F4-5083F682841D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7A51356-EC06-9BBC-8BB7-7D0A3FAF8FEF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8" name="Picture 7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C6BDD2CE-F8FF-065E-B9D8-D42CC5D39A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58822"/>
            <a:ext cx="9144000" cy="182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036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7672E2-0FAB-0E6D-9C8A-D3AC033F4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42B81E2-680E-1546-0D61-8AB7421F1433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4F2973F-2703-94D3-0C37-2E497CD9B2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1C8BCE8-0E48-DEC4-1342-604012D52985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FF3F VW Results: 1980–2000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24AC0E5F-DD6B-E599-0394-E28AA916767A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BD352D7E-C6EF-F35A-7A0E-7F6489EFEFD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59AA8D-0B50-2E7B-CEE9-C986C5DA658F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 descr="A black and white text on a white background&#10;&#10;AI-generated content may be incorrect.">
            <a:extLst>
              <a:ext uri="{FF2B5EF4-FFF2-40B4-BE49-F238E27FC236}">
                <a16:creationId xmlns:a16="http://schemas.microsoft.com/office/drawing/2014/main" id="{6787E22B-C230-7CDB-4D2F-F2DA2A60A8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13642"/>
            <a:ext cx="9144000" cy="171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880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775B7-4AA1-D518-F83D-FA4AD5CCD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F9F5B70-C38D-F9EE-143A-E949A5393F38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A0993C7-5236-BC92-FAD3-ABC2FB0F1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5BD7D257-252E-9D5B-B206-EC463B4F5981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CAPM VW Results: 2001–2022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B7CD35E-6C46-E9E3-0C50-055256B92567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74DFDA9-25F8-3656-4AD7-2986E0F46531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8C6F1F6-5638-6B2E-C56D-303FB260890D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266C35-E28B-36CC-4088-6977779CB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64724"/>
            <a:ext cx="9144000" cy="181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81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ED9DE2-9DAD-6CCA-A3DC-BEFF11912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A310D7-4C39-1ED3-65D3-D511844A2F8F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E23266E2-0964-41B8-787E-2C86B0958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013A84F5-2507-0A05-B2EE-0E6E28A22A50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High/Low MKT Cap Excluded FF3F VW Results: 2001–2022</a:t>
            </a:r>
            <a:endParaRPr lang="en-US" sz="2200">
              <a:latin typeface="Calibri"/>
              <a:ea typeface="Calibri"/>
              <a:cs typeface="Calibri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211F2AC-D695-7135-FE68-A13D21C0ABB3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9602B4-ECF4-E8AD-3319-2F222D9C783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239E142-C0D9-BA09-7F38-46D301F25AFC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BFD6C7-45C2-B982-D506-B768D2D5F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3990"/>
            <a:ext cx="9144000" cy="1855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031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E43D20-1DC8-AEB7-F3D4-729EEA47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CF33588-A8E1-76CE-33ED-27759349BF26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62D90A32-7F0B-F21A-6BDC-125BFC7A8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0440527-D29D-D4EF-0685-38E3CF35004E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Long-Short Portfolio Alphas by Subperiod</a:t>
            </a:r>
            <a:endParaRPr lang="en-US" sz="22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7E07B8A-1D54-F79E-343B-2F98905A10CA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1FD188-1FD0-9085-3104-AD1B9D6D35D3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FB1E3F8-899B-CF67-ADD3-9A51A63374F9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60E7A18-31EA-D95A-D57C-F7889A80EA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383" y="859611"/>
            <a:ext cx="6299955" cy="402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76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4F00B5-55DA-ABF6-9A42-CF9C83AA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606A8FE-CA0E-4C24-3AAC-08CBF0C1663B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1E615052-057F-C02D-5881-E92010EF9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2880"/>
            <a:ext cx="365760" cy="36576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12F59B52-D3A9-C984-2131-EA3F28D725AB}"/>
              </a:ext>
            </a:extLst>
          </p:cNvPr>
          <p:cNvSpPr/>
          <p:nvPr/>
        </p:nvSpPr>
        <p:spPr>
          <a:xfrm>
            <a:off x="86868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Spread Returns</a:t>
            </a:r>
            <a:endParaRPr lang="en-US" sz="2200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F3F53C4-C89B-1F30-A450-CC5AF050EA6C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4AADD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B4FD3C3-DA06-B156-D990-DF1EEEE47254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138E9C2-163A-3EE5-F8FE-40F6F6B10309}"/>
              </a:ext>
            </a:extLst>
          </p:cNvPr>
          <p:cNvSpPr/>
          <p:nvPr/>
        </p:nvSpPr>
        <p:spPr>
          <a:xfrm>
            <a:off x="457200" y="4910328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B0B8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Finance – Project 1</a:t>
            </a:r>
            <a:endParaRPr lang="en-US" sz="800"/>
          </a:p>
        </p:txBody>
      </p:sp>
      <p:pic>
        <p:nvPicPr>
          <p:cNvPr id="9" name="Picture 8" descr="A graph of different types of spreadsheets&#10;&#10;AI-generated content may be incorrect.">
            <a:extLst>
              <a:ext uri="{FF2B5EF4-FFF2-40B4-BE49-F238E27FC236}">
                <a16:creationId xmlns:a16="http://schemas.microsoft.com/office/drawing/2014/main" id="{BFE38499-8A2E-4481-4B96-C75E961B09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2230" r="75"/>
          <a:stretch>
            <a:fillRect/>
          </a:stretch>
        </p:blipFill>
        <p:spPr>
          <a:xfrm>
            <a:off x="-1249" y="1498139"/>
            <a:ext cx="9148034" cy="2804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328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851</Words>
  <Application>Microsoft Office PowerPoint</Application>
  <PresentationFormat>On-screen Show (16:9)</PresentationFormat>
  <Paragraphs>119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Courier New</vt:lpstr>
      <vt:lpstr>Georgia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R&amp;D Expenditure Generate Alpha?</dc:title>
  <dc:subject>PptxGenJS Presentation</dc:subject>
  <dc:creator>Jack Feen, Humphrey Hui, Michael Ovassapian</dc:creator>
  <cp:lastModifiedBy>Michael Ovassapian</cp:lastModifiedBy>
  <cp:revision>203</cp:revision>
  <dcterms:created xsi:type="dcterms:W3CDTF">2026-02-12T00:32:14Z</dcterms:created>
  <dcterms:modified xsi:type="dcterms:W3CDTF">2026-02-23T04:41:35Z</dcterms:modified>
</cp:coreProperties>
</file>